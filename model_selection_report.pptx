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09B72E-0BC8-4A26-9813-169577B80292}">
  <a:tblStyle styleId="{F009B72E-0BC8-4A26-9813-169577B8029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2B4D"/>
          </a:solidFill>
          <a:ln cap="flat" cmpd="sng" w="9525">
            <a:solidFill>
              <a:srgbClr val="162B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94360" y="347472"/>
            <a:ext cx="6217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Selection Report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94360" y="804672"/>
            <a:ext cx="6217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Movie Recommendation Systems with Genre Side Features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685800" y="1737360"/>
            <a:ext cx="5212080" cy="411480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310075" y="1792225"/>
            <a:ext cx="4514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Presentation Scope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914400" y="21488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Compare four recommendation model families trained on the MovieLens 25M ratings dataset.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Summarize methodology, feature engineering, GPU training strategy, and final test performance.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Provide a stakeholder-ready recommendation that balances accuracy, complexity, and scalability.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6400800" y="1737360"/>
            <a:ext cx="2194560" cy="137160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E8F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6473952" y="1792224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Best Model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537960" y="214884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NCF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537960" y="26517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Lowest test RMSE / MAE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8732520" y="1737360"/>
            <a:ext cx="2377440" cy="137160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FFF3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8805672" y="1792224"/>
            <a:ext cx="22311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8869680" y="21488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2026-06-17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8869680" y="26517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Presentation build date</a:t>
            </a:r>
            <a:endParaRPr/>
          </a:p>
        </p:txBody>
      </p:sp>
      <p:sp>
        <p:nvSpPr>
          <p:cNvPr id="98" name="Google Shape;98;p13"/>
          <p:cNvSpPr/>
          <p:nvPr/>
        </p:nvSpPr>
        <p:spPr>
          <a:xfrm>
            <a:off x="6400800" y="3474720"/>
            <a:ext cx="4709160" cy="150876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E8F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6473952" y="3529584"/>
            <a:ext cx="45628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Headline Result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537960" y="388620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RMSE 0.8129  |  MAE 0.6112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6537960" y="4389120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Neural CF improved RMSE by 23.3% vs global-mean baseline.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685800" y="6126480"/>
            <a:ext cx="10515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Source notebook: training/model_selection_rating_genre.ipynb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Key takeaways from the notebook-based model comparison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02920" y="1143000"/>
            <a:ext cx="5577840" cy="521208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359701" y="1197875"/>
            <a:ext cx="4647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What matters most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77240" y="1600200"/>
            <a:ext cx="498348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Neural Collaborative Filtering (NCF) achieved the strongest generalization with test RMSE 0.8129 and MAE 0.6112.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Matrix Factorization (MF/GMF) delivered the best simplicity-to-performance trade-off, finishing a close second at RMSE 0.8419.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ALS and SVD benefited from genre augmentation, but both lagged neural models by 0.09–0.13 RMSE.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All trained approaches significantly beat the global-mean baseline RMSE of 1.0600.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Recommendation: use NCF when accuracy is the primary KPI; keep MF/GMF as the leaner fallback for faster deployment and iteration.</a:t>
            </a:r>
            <a:endParaRPr/>
          </a:p>
        </p:txBody>
      </p:sp>
      <p:graphicFrame>
        <p:nvGraphicFramePr>
          <p:cNvPr id="112" name="Google Shape;112;p14"/>
          <p:cNvGraphicFramePr/>
          <p:nvPr/>
        </p:nvGraphicFramePr>
        <p:xfrm>
          <a:off x="63093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{F009B72E-0BC8-4A26-9813-169577B80292}</a:tableStyleId>
              </a:tblPr>
              <a:tblGrid>
                <a:gridCol w="1069850"/>
                <a:gridCol w="1069850"/>
                <a:gridCol w="1069850"/>
                <a:gridCol w="1069850"/>
                <a:gridCol w="1069850"/>
              </a:tblGrid>
              <a:tr h="48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Rank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RMSE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MAE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Selection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</a:tr>
              <a:tr h="48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Neural CF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0.8129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0.6112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epoch 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</a:tr>
              <a:tr h="48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Matrix Factorization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0.6333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epoch 20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</a:tr>
              <a:tr h="48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ALS + Genre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0.6919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iter 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</a:tr>
              <a:tr h="484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SVD + Genre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0.7192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k=100, alpha=2.0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</a:tr>
            </a:tbl>
          </a:graphicData>
        </a:graphic>
      </p:graphicFrame>
      <p:sp>
        <p:nvSpPr>
          <p:cNvPr id="113" name="Google Shape;113;p14"/>
          <p:cNvSpPr/>
          <p:nvPr/>
        </p:nvSpPr>
        <p:spPr>
          <a:xfrm>
            <a:off x="6355080" y="4069080"/>
            <a:ext cx="2423160" cy="141732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E8F1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6428232" y="4123944"/>
            <a:ext cx="22768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Accuracy Gap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492240" y="448056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+0.0290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492240" y="498348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MF RMSE delta vs NCF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8961120" y="4069080"/>
            <a:ext cx="2423160" cy="141732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E8F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9034272" y="4123944"/>
            <a:ext cx="22768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Baseline Lift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9098280" y="448056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23.3%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9098280" y="498348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NCF RMSE reduction vs naive mean predictor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Data Overview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MovieLens 25M ratings with genre metadata and sparse user-item interactions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502920" y="1234440"/>
            <a:ext cx="2057400" cy="141732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E8F1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576072" y="1289304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Ratings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640080" y="1645920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25,000,095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40080" y="2148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Explicit 0.5–5.0 star ratings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2697480" y="1234440"/>
            <a:ext cx="2057400" cy="141732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E8F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2770632" y="1289304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Users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2834640" y="1645920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162,541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2834640" y="2148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Encoded from training-period activity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4892040" y="1234440"/>
            <a:ext cx="2057400" cy="141732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FFF3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4965192" y="1289304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Modeled Movies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5029200" y="1645920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51,231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5029200" y="2148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Train-known catalog items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7086600" y="1234440"/>
            <a:ext cx="2057400" cy="141732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E8F1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7159752" y="1289304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Raw Movie Rows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7223760" y="1645920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62,423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7223760" y="2148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Original movie metadata records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9281160" y="1234440"/>
            <a:ext cx="2057400" cy="141732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E8F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354312" y="1289304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Genres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9418320" y="1645920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9418320" y="214884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One-hot encoded side features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502925" y="2926074"/>
            <a:ext cx="4800600" cy="3247200"/>
          </a:xfrm>
          <a:prstGeom prst="roundRect">
            <a:avLst>
              <a:gd fmla="val 16667" name="adj"/>
            </a:avLst>
          </a:prstGeom>
          <a:solidFill>
            <a:srgbClr val="F3F6F9"/>
          </a:solidFill>
          <a:ln cap="flat" cmpd="sng" w="9525">
            <a:solidFill>
              <a:srgbClr val="F3F6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576072" y="2980944"/>
            <a:ext cx="46542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Dataset profile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77240" y="3337560"/>
            <a:ext cx="43434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Ratings were merged with movie genres while keeping heavyweight genome features out of the training spine.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Sparse matrix density after normalization is only 0.2177%, reinforcing the need for factorization-based recommenders.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Cold-start mitigation: rare movies appearing only in held-out tails were dropped from the final test set (11,990 rows).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Genre dummies were stored as compact int8/float32 features to control memory use at 25M-row scale.</a:t>
            </a:r>
            <a:endParaRPr/>
          </a:p>
        </p:txBody>
      </p:sp>
      <p:graphicFrame>
        <p:nvGraphicFramePr>
          <p:cNvPr id="150" name="Google Shape;150;p15"/>
          <p:cNvGraphicFramePr/>
          <p:nvPr/>
        </p:nvGraphicFramePr>
        <p:xfrm>
          <a:off x="5623560" y="3063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{F009B72E-0BC8-4A26-9813-169577B80292}</a:tableStyleId>
              </a:tblPr>
              <a:tblGrid>
                <a:gridCol w="1859275"/>
                <a:gridCol w="1859275"/>
                <a:gridCol w="1859275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 / Matrix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Shape or Count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Merged train spine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25,000,095 x 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Ratings + genres + time features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Genre matrix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62,423 x 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Movie side-information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R_train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162,541 x 51,231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Sparse normalized ratings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R_aug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162,560 x 51,231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Ratings plus 19 genre pseudo-users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Temporal holdout, genre engineering, and leakage-safe normalization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02925" y="1234450"/>
            <a:ext cx="3675300" cy="493770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 txBox="1"/>
          <p:nvPr/>
        </p:nvSpPr>
        <p:spPr>
          <a:xfrm>
            <a:off x="1069850" y="1289300"/>
            <a:ext cx="29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Split strategy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749808" y="1645920"/>
            <a:ext cx="30632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Per-user temporal ordering preserves each user's rating history.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Outer split: first ~80% of each user's ratings for training period, last ~20% for final test.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Inner split on the training period: last ~10% of that window used for validation and early stopping.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Actual notebook row counts: 18.13M fit / 1.93M validation / 4.93M test.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77240" y="4617720"/>
            <a:ext cx="914400" cy="86868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162B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Train period</a:t>
            </a:r>
            <a:b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~80%</a:t>
            </a:r>
            <a:endParaRPr/>
          </a:p>
        </p:txBody>
      </p:sp>
      <p:sp>
        <p:nvSpPr>
          <p:cNvPr id="161" name="Google Shape;161;p16"/>
          <p:cNvSpPr/>
          <p:nvPr/>
        </p:nvSpPr>
        <p:spPr>
          <a:xfrm>
            <a:off x="1965960" y="4617720"/>
            <a:ext cx="914400" cy="8686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162B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b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~10% of train period</a:t>
            </a: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3154680" y="4617720"/>
            <a:ext cx="914400" cy="868680"/>
          </a:xfrm>
          <a:prstGeom prst="roundRect">
            <a:avLst>
              <a:gd fmla="val 16667" name="adj"/>
            </a:avLst>
          </a:prstGeom>
          <a:solidFill>
            <a:srgbClr val="FCEBEA"/>
          </a:solidFill>
          <a:ln cap="flat" cmpd="sng" w="9525">
            <a:solidFill>
              <a:srgbClr val="162B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Final test</a:t>
            </a:r>
            <a:b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~20%</a:t>
            </a:r>
            <a:endParaRPr/>
          </a:p>
        </p:txBody>
      </p:sp>
      <p:cxnSp>
        <p:nvCxnSpPr>
          <p:cNvPr id="163" name="Google Shape;163;p16"/>
          <p:cNvCxnSpPr/>
          <p:nvPr/>
        </p:nvCxnSpPr>
        <p:spPr>
          <a:xfrm>
            <a:off x="1691640" y="5056632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64" name="Google Shape;164;p16"/>
          <p:cNvCxnSpPr/>
          <p:nvPr/>
        </p:nvCxnSpPr>
        <p:spPr>
          <a:xfrm>
            <a:off x="2880360" y="5056632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5" name="Google Shape;165;p16"/>
          <p:cNvSpPr/>
          <p:nvPr/>
        </p:nvSpPr>
        <p:spPr>
          <a:xfrm>
            <a:off x="4343400" y="1234440"/>
            <a:ext cx="3429000" cy="493776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4882975" y="1289300"/>
            <a:ext cx="2816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Feature engineering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4590288" y="1645920"/>
            <a:ext cx="2926080" cy="2788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Genre strings were expanded into 19 one-hot features per movie.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MF and NCF consume genres directly through linear projections.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SVD and ALS append 19 genre pseudo-user rows to the sparse matrix so factorization explains both ratings and content structure.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SVD tuned alpha over {0.5, 1.0, 2.0}; the best configuration was alpha = 2.0.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8046720" y="1234440"/>
            <a:ext cx="3611880" cy="493776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8522200" y="1289300"/>
            <a:ext cx="3063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Normalization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8302752" y="1645920"/>
            <a:ext cx="30632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User mean ratings were computed on df_fit only.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Each split uses rating_norm = rating - user mean during training.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Predictions are de-normalized and clipped back to the 0.5–5.0 star range for evaluation.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This design keeps validation/test scoring leakage-free and directly comparable across all models.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Model Architectures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How each recommendation model consumes ratings and genre features</a:t>
            </a:r>
            <a:endParaRPr/>
          </a:p>
        </p:txBody>
      </p:sp>
      <p:graphicFrame>
        <p:nvGraphicFramePr>
          <p:cNvPr id="177" name="Google Shape;177;p17"/>
          <p:cNvGraphicFramePr/>
          <p:nvPr/>
        </p:nvGraphicFramePr>
        <p:xfrm>
          <a:off x="411480" y="12344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{F009B72E-0BC8-4A26-9813-169577B80292}</a:tableStyleId>
              </a:tblPr>
              <a:tblGrid>
                <a:gridCol w="2258575"/>
                <a:gridCol w="2258575"/>
                <a:gridCol w="2258575"/>
                <a:gridCol w="2258575"/>
                <a:gridCol w="2258575"/>
              </a:tblGrid>
              <a:tr h="8412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Core idea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Genre integration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hyperparameters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Selection result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</a:tr>
              <a:tr h="841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SVD + Genre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Sparse SVD on augmented rating matrix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 pseudo-user rows appended to R_train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 ∈ {20,50,100}; best k=100, alpha=2.0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val RMSE 0.9171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</a:tr>
              <a:tr h="841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MF / GMF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User/item embeddings + biases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Linear genre projection added to movie embedding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 latent factors; Adam; epoch 20 selected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val RMSE 0.8152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</a:tr>
              <a:tr h="841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Neural CF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GMF path fused with MLP path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Genres added to GMF projection and raw MLP input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 GMF + 32 MLP factors; hidden layers 128/64/32; epoch 9 selected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val RMSE 0.7842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</a:tr>
              <a:tr h="841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ALS + Genre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Alternating closed-form factor updates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augmented sparse matrix as SVD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k=50, λ=1, 10 iterations; iter 7 selected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val RMSE 0.8994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178" name="Google Shape;178;p17"/>
          <p:cNvSpPr txBox="1"/>
          <p:nvPr/>
        </p:nvSpPr>
        <p:spPr>
          <a:xfrm>
            <a:off x="548640" y="5623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All four models use the same leakage-safe validation/test protocol, making the metric comparison directly comparable across architectures.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8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Architecture Diagrams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Text-based views of the four modeling approaches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502920" y="1234440"/>
            <a:ext cx="5440680" cy="2057400"/>
          </a:xfrm>
          <a:prstGeom prst="roundRect">
            <a:avLst>
              <a:gd fmla="val 16667" name="adj"/>
            </a:avLst>
          </a:prstGeom>
          <a:solidFill>
            <a:srgbClr val="FCEBEA"/>
          </a:solidFill>
          <a:ln cap="flat" cmpd="sng" w="9525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576072" y="1289304"/>
            <a:ext cx="52943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SVD + Genre</a:t>
            </a: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667512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R_train + 19 genre rows</a:t>
            </a:r>
            <a:endParaRPr/>
          </a:p>
        </p:txBody>
      </p:sp>
      <p:cxnSp>
        <p:nvCxnSpPr>
          <p:cNvPr id="188" name="Google Shape;188;p18"/>
          <p:cNvCxnSpPr/>
          <p:nvPr/>
        </p:nvCxnSpPr>
        <p:spPr>
          <a:xfrm>
            <a:off x="1746504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89" name="Google Shape;189;p18"/>
          <p:cNvSpPr/>
          <p:nvPr/>
        </p:nvSpPr>
        <p:spPr>
          <a:xfrm>
            <a:off x="1965960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svds(k=100)</a:t>
            </a:r>
            <a:endParaRPr/>
          </a:p>
        </p:txBody>
      </p:sp>
      <p:cxnSp>
        <p:nvCxnSpPr>
          <p:cNvPr id="190" name="Google Shape;190;p18"/>
          <p:cNvCxnSpPr/>
          <p:nvPr/>
        </p:nvCxnSpPr>
        <p:spPr>
          <a:xfrm>
            <a:off x="3044952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1" name="Google Shape;191;p18"/>
          <p:cNvSpPr/>
          <p:nvPr/>
        </p:nvSpPr>
        <p:spPr>
          <a:xfrm>
            <a:off x="3264408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User / movie latent factors</a:t>
            </a:r>
            <a:endParaRPr/>
          </a:p>
        </p:txBody>
      </p:sp>
      <p:cxnSp>
        <p:nvCxnSpPr>
          <p:cNvPr id="192" name="Google Shape;192;p18"/>
          <p:cNvCxnSpPr/>
          <p:nvPr/>
        </p:nvCxnSpPr>
        <p:spPr>
          <a:xfrm>
            <a:off x="4343400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3" name="Google Shape;193;p18"/>
          <p:cNvSpPr/>
          <p:nvPr/>
        </p:nvSpPr>
        <p:spPr>
          <a:xfrm>
            <a:off x="4562856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Prediction + user mean</a:t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6172200" y="1234440"/>
            <a:ext cx="5440680" cy="205740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6245352" y="1289304"/>
            <a:ext cx="52943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MF / GMF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6336792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User emb (64)</a:t>
            </a:r>
            <a:endParaRPr/>
          </a:p>
        </p:txBody>
      </p:sp>
      <p:cxnSp>
        <p:nvCxnSpPr>
          <p:cNvPr id="197" name="Google Shape;197;p18"/>
          <p:cNvCxnSpPr/>
          <p:nvPr/>
        </p:nvCxnSpPr>
        <p:spPr>
          <a:xfrm>
            <a:off x="7415784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8" name="Google Shape;198;p18"/>
          <p:cNvSpPr/>
          <p:nvPr/>
        </p:nvSpPr>
        <p:spPr>
          <a:xfrm>
            <a:off x="7635240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Movie emb + genre projection</a:t>
            </a:r>
            <a:endParaRPr/>
          </a:p>
        </p:txBody>
      </p:sp>
      <p:cxnSp>
        <p:nvCxnSpPr>
          <p:cNvPr id="199" name="Google Shape;199;p18"/>
          <p:cNvCxnSpPr/>
          <p:nvPr/>
        </p:nvCxnSpPr>
        <p:spPr>
          <a:xfrm>
            <a:off x="8714232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0" name="Google Shape;200;p18"/>
          <p:cNvSpPr/>
          <p:nvPr/>
        </p:nvSpPr>
        <p:spPr>
          <a:xfrm>
            <a:off x="8933688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Dot product + user/movie bias</a:t>
            </a:r>
            <a:endParaRPr/>
          </a:p>
        </p:txBody>
      </p:sp>
      <p:cxnSp>
        <p:nvCxnSpPr>
          <p:cNvPr id="201" name="Google Shape;201;p18"/>
          <p:cNvCxnSpPr/>
          <p:nvPr/>
        </p:nvCxnSpPr>
        <p:spPr>
          <a:xfrm>
            <a:off x="10012680" y="210312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2" name="Google Shape;202;p18"/>
          <p:cNvSpPr/>
          <p:nvPr/>
        </p:nvSpPr>
        <p:spPr>
          <a:xfrm>
            <a:off x="10232136" y="173736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Predicted rating</a:t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502920" y="3794760"/>
            <a:ext cx="5440680" cy="205740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576072" y="3849624"/>
            <a:ext cx="52943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Neural CF</a:t>
            </a: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667512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GMF path</a:t>
            </a:r>
            <a:endParaRPr/>
          </a:p>
        </p:txBody>
      </p:sp>
      <p:cxnSp>
        <p:nvCxnSpPr>
          <p:cNvPr id="206" name="Google Shape;206;p18"/>
          <p:cNvCxnSpPr/>
          <p:nvPr/>
        </p:nvCxnSpPr>
        <p:spPr>
          <a:xfrm>
            <a:off x="1746504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7" name="Google Shape;207;p18"/>
          <p:cNvSpPr/>
          <p:nvPr/>
        </p:nvSpPr>
        <p:spPr>
          <a:xfrm>
            <a:off x="1965960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MLP path with genre input</a:t>
            </a:r>
            <a:endParaRPr/>
          </a:p>
        </p:txBody>
      </p:sp>
      <p:cxnSp>
        <p:nvCxnSpPr>
          <p:cNvPr id="208" name="Google Shape;208;p18"/>
          <p:cNvCxnSpPr/>
          <p:nvPr/>
        </p:nvCxnSpPr>
        <p:spPr>
          <a:xfrm>
            <a:off x="3044952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9" name="Google Shape;209;p18"/>
          <p:cNvSpPr/>
          <p:nvPr/>
        </p:nvSpPr>
        <p:spPr>
          <a:xfrm>
            <a:off x="3264408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Fusion layer</a:t>
            </a:r>
            <a:endParaRPr/>
          </a:p>
        </p:txBody>
      </p:sp>
      <p:cxnSp>
        <p:nvCxnSpPr>
          <p:cNvPr id="210" name="Google Shape;210;p18"/>
          <p:cNvCxnSpPr/>
          <p:nvPr/>
        </p:nvCxnSpPr>
        <p:spPr>
          <a:xfrm>
            <a:off x="4343400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1" name="Google Shape;211;p18"/>
          <p:cNvSpPr/>
          <p:nvPr/>
        </p:nvSpPr>
        <p:spPr>
          <a:xfrm>
            <a:off x="4562856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Predicted rating</a:t>
            </a:r>
            <a:endParaRPr/>
          </a:p>
        </p:txBody>
      </p:sp>
      <p:sp>
        <p:nvSpPr>
          <p:cNvPr id="212" name="Google Shape;212;p18"/>
          <p:cNvSpPr/>
          <p:nvPr/>
        </p:nvSpPr>
        <p:spPr>
          <a:xfrm>
            <a:off x="6172200" y="3794760"/>
            <a:ext cx="5440680" cy="205740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>
            <a:off x="6245352" y="3849624"/>
            <a:ext cx="52943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ALS + Genre</a:t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6336792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R_aug sparse matrix</a:t>
            </a:r>
            <a:endParaRPr/>
          </a:p>
        </p:txBody>
      </p:sp>
      <p:cxnSp>
        <p:nvCxnSpPr>
          <p:cNvPr id="215" name="Google Shape;215;p18"/>
          <p:cNvCxnSpPr/>
          <p:nvPr/>
        </p:nvCxnSpPr>
        <p:spPr>
          <a:xfrm>
            <a:off x="7415784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6" name="Google Shape;216;p18"/>
          <p:cNvSpPr/>
          <p:nvPr/>
        </p:nvSpPr>
        <p:spPr>
          <a:xfrm>
            <a:off x="7635240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Update U given V</a:t>
            </a:r>
            <a:endParaRPr/>
          </a:p>
        </p:txBody>
      </p:sp>
      <p:cxnSp>
        <p:nvCxnSpPr>
          <p:cNvPr id="217" name="Google Shape;217;p18"/>
          <p:cNvCxnSpPr/>
          <p:nvPr/>
        </p:nvCxnSpPr>
        <p:spPr>
          <a:xfrm>
            <a:off x="8714232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8" name="Google Shape;218;p18"/>
          <p:cNvSpPr/>
          <p:nvPr/>
        </p:nvSpPr>
        <p:spPr>
          <a:xfrm>
            <a:off x="8933688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Update V given U</a:t>
            </a:r>
            <a:endParaRPr/>
          </a:p>
        </p:txBody>
      </p:sp>
      <p:cxnSp>
        <p:nvCxnSpPr>
          <p:cNvPr id="219" name="Google Shape;219;p18"/>
          <p:cNvCxnSpPr/>
          <p:nvPr/>
        </p:nvCxnSpPr>
        <p:spPr>
          <a:xfrm>
            <a:off x="10012680" y="4663440"/>
            <a:ext cx="219456" cy="0"/>
          </a:xfrm>
          <a:prstGeom prst="straightConnector1">
            <a:avLst/>
          </a:prstGeom>
          <a:noFill/>
          <a:ln cap="flat" cmpd="sng" w="25400">
            <a:solidFill>
              <a:srgbClr val="56657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0" name="Google Shape;220;p18"/>
          <p:cNvSpPr/>
          <p:nvPr/>
        </p:nvSpPr>
        <p:spPr>
          <a:xfrm>
            <a:off x="10232136" y="4297680"/>
            <a:ext cx="1078992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Best iter = 7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NCF extends MF by adding a non-linear MLP branch, while SVD and ALS share the same augmented sparse representation with genre pseudo-users.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Results &amp; Performance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Lower RMSE/MAE is better; all values are final held-out test metrics</a:t>
            </a:r>
            <a:endParaRPr/>
          </a:p>
        </p:txBody>
      </p:sp>
      <p:pic>
        <p:nvPicPr>
          <p:cNvPr id="228" name="Google Shape;22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71600"/>
            <a:ext cx="6492240" cy="4114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19"/>
          <p:cNvGraphicFramePr/>
          <p:nvPr/>
        </p:nvGraphicFramePr>
        <p:xfrm>
          <a:off x="7315200" y="14173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{F009B72E-0BC8-4A26-9813-169577B80292}</a:tableStyleId>
              </a:tblPr>
              <a:tblGrid>
                <a:gridCol w="1097275"/>
                <a:gridCol w="1097275"/>
                <a:gridCol w="1097275"/>
                <a:gridCol w="1097275"/>
              </a:tblGrid>
              <a:tr h="649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 RMSE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RMSE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MAE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</a:tr>
              <a:tr h="649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NCF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0.8129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0.6112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5E9"/>
                    </a:solidFill>
                  </a:tcPr>
                </a:tc>
              </a:tr>
              <a:tr h="649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MF / GMF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0.8152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0.6333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F1FA"/>
                    </a:solidFill>
                  </a:tcPr>
                </a:tc>
              </a:tr>
              <a:tr h="649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0.8994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0.6919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3E0"/>
                    </a:solidFill>
                  </a:tcPr>
                </a:tc>
              </a:tr>
              <a:tr h="649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SVD+Genre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0.7192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CEBE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19"/>
          <p:cNvSpPr txBox="1"/>
          <p:nvPr/>
        </p:nvSpPr>
        <p:spPr>
          <a:xfrm>
            <a:off x="7315200" y="4983480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Performance ranking by test RMSE: NCF → MF/GMF → ALS → SVD+Genre</a:t>
            </a:r>
            <a:endParaRPr/>
          </a:p>
        </p:txBody>
      </p:sp>
      <p:sp>
        <p:nvSpPr>
          <p:cNvPr id="231" name="Google Shape;231;p19"/>
          <p:cNvSpPr txBox="1"/>
          <p:nvPr/>
        </p:nvSpPr>
        <p:spPr>
          <a:xfrm>
            <a:off x="7315200" y="532180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Global-mean baseline RMSE = 1.0600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0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Model ranking, trade-offs, and recommended production choice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502920" y="1234440"/>
            <a:ext cx="3657600" cy="443484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932924" y="1289300"/>
            <a:ext cx="315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Performance ranking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77240" y="1691640"/>
            <a:ext cx="310896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1. NCF: best overall accuracy (RMSE 0.8129 / MAE 0.6112).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2. MF / GMF: close second while staying architecturally simpler.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3. ALS + Genre: respectable classical baseline with slower sparse optimization.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4. SVD + Genre: interpretable and compact, but least accurate in this benchmark.</a:t>
            </a:r>
            <a:endParaRPr/>
          </a:p>
        </p:txBody>
      </p:sp>
      <p:sp>
        <p:nvSpPr>
          <p:cNvPr id="241" name="Google Shape;241;p20"/>
          <p:cNvSpPr/>
          <p:nvPr/>
        </p:nvSpPr>
        <p:spPr>
          <a:xfrm>
            <a:off x="4343400" y="1234440"/>
            <a:ext cx="3657600" cy="443484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4773350" y="1289300"/>
            <a:ext cx="315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4617720" y="1691640"/>
            <a:ext cx="310896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Accuracy vs complexity: NCF wins on accuracy but introduces the most moving parts.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Operational simplicity: MF retains embedding efficiency and easier explainability.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Classical factorization: ALS/SVD remain useful baselines when deep-learning infrastructure is unavailable.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Genre features help every family, but non-linear interaction learning captures the strongest gains.</a:t>
            </a:r>
            <a:endParaRPr/>
          </a:p>
        </p:txBody>
      </p:sp>
      <p:sp>
        <p:nvSpPr>
          <p:cNvPr id="244" name="Google Shape;244;p20"/>
          <p:cNvSpPr/>
          <p:nvPr/>
        </p:nvSpPr>
        <p:spPr>
          <a:xfrm>
            <a:off x="8183879" y="1234440"/>
            <a:ext cx="3474720" cy="443484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9525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 txBox="1"/>
          <p:nvPr/>
        </p:nvSpPr>
        <p:spPr>
          <a:xfrm>
            <a:off x="8641075" y="1289300"/>
            <a:ext cx="2944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Recommendation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8458200" y="1691640"/>
            <a:ext cx="292608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Primary recommendation: advance NCF for stakeholder demos and accuracy-focused deployment.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Secondary option: keep MF/GMF as a lean fallback where training speed or maintainability matters more.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Do not lead with SVD/ALS for this use case unless infrastructure constraints outweigh metric quality.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3703320" y="6720840"/>
            <a:ext cx="4800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56657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Technical Details</a:t>
            </a: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Training efficiency, optimization settings, and evaluation controls</a:t>
            </a:r>
            <a:endParaRPr/>
          </a:p>
        </p:txBody>
      </p:sp>
      <p:graphicFrame>
        <p:nvGraphicFramePr>
          <p:cNvPr id="254" name="Google Shape;254;p21"/>
          <p:cNvGraphicFramePr/>
          <p:nvPr/>
        </p:nvGraphicFramePr>
        <p:xfrm>
          <a:off x="59436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{F009B72E-0BC8-4A26-9813-169577B80292}</a:tableStyleId>
              </a:tblPr>
              <a:tblGrid>
                <a:gridCol w="3657600"/>
                <a:gridCol w="3657600"/>
                <a:gridCol w="3657600"/>
              </a:tblGrid>
              <a:tr h="6705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Topic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Notebook implementation detail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Why it matters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2B4D"/>
                    </a:solidFill>
                  </a:tcPr>
                </a:tc>
              </a:tr>
              <a:tr h="6705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GPU optimization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 GPUBatcher moves tensors to device once and slices batches without DataLoader workers.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Reduces CPU→GPU transfer overhead and avoids worker crashes for large in-memory data.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705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 processing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 size = 4,096 with user, movie, rating_norm, and genre tensors.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Maintains throughput while keeping memory predictable.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</a:tr>
              <a:tr h="6705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Early stopping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MF and NCF stop after 5 stale validation epochs; best weights are restored.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Prevents overfitting and standardizes model selection.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705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SVD search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Grid over k ∈ {20, 50, 100} and alpha ∈ {0.5, 1.0, 2.0}.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Keeps the genre-weight sweep small but evidence-based.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3F6F9"/>
                    </a:solidFill>
                  </a:tcPr>
                </a:tc>
              </a:tr>
              <a:tr h="6705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ALS loop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alternating updates, λ = 1, k = 50, full augmented matrix on CPU.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Provides a deterministic classical benchmark with validation-based iteration choice.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5" name="Google Shape;255;p21"/>
          <p:cNvSpPr txBox="1"/>
          <p:nvPr/>
        </p:nvSpPr>
        <p:spPr>
          <a:xfrm>
            <a:off x="731520" y="557784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Evaluation discipline: df_test is touched exactly once per model after hyperparameter/epoch selection on df_val.</a:t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731520" y="589788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Normalization detail: user means come only from df_fit, then predictions are de-normalized and clipped to the original 0.5–5.0 rating scale.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"/>
          <p:cNvSpPr txBox="1"/>
          <p:nvPr/>
        </p:nvSpPr>
        <p:spPr>
          <a:xfrm>
            <a:off x="457200" y="228600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Conclusions</a:t>
            </a:r>
            <a:endParaRPr/>
          </a:p>
        </p:txBody>
      </p:sp>
      <p:sp>
        <p:nvSpPr>
          <p:cNvPr id="262" name="Google Shape;262;p22"/>
          <p:cNvSpPr txBox="1"/>
          <p:nvPr/>
        </p:nvSpPr>
        <p:spPr>
          <a:xfrm>
            <a:off x="457200" y="77724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Summary, recommendation, and practical next steps</a:t>
            </a: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640080" y="1325880"/>
            <a:ext cx="5074920" cy="438912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9525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 txBox="1"/>
          <p:nvPr/>
        </p:nvSpPr>
        <p:spPr>
          <a:xfrm>
            <a:off x="1161200" y="1380750"/>
            <a:ext cx="4480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Bottom line</a:t>
            </a:r>
            <a:endParaRPr/>
          </a:p>
        </p:txBody>
      </p:sp>
      <p:sp>
        <p:nvSpPr>
          <p:cNvPr id="265" name="Google Shape;265;p22"/>
          <p:cNvSpPr txBox="1"/>
          <p:nvPr/>
        </p:nvSpPr>
        <p:spPr>
          <a:xfrm>
            <a:off x="914400" y="1783080"/>
            <a:ext cx="45262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NCF is the strongest candidate for the current recommendation objective, with the best RMSE and MAE on the held-out test set.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MF/GMF remains a high-value alternative if the team wants a simpler model with only a modest accuracy trade-off.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Genre side features are useful, but the biggest lift comes from models that learn richer user–item interaction patterns.</a:t>
            </a:r>
            <a:endParaRPr/>
          </a:p>
        </p:txBody>
      </p:sp>
      <p:sp>
        <p:nvSpPr>
          <p:cNvPr id="266" name="Google Shape;266;p22"/>
          <p:cNvSpPr/>
          <p:nvPr/>
        </p:nvSpPr>
        <p:spPr>
          <a:xfrm>
            <a:off x="5989320" y="1325880"/>
            <a:ext cx="5440680" cy="4389120"/>
          </a:xfrm>
          <a:prstGeom prst="roundRect">
            <a:avLst>
              <a:gd fmla="val 16667" name="adj"/>
            </a:avLst>
          </a:prstGeom>
          <a:solidFill>
            <a:srgbClr val="E8F1FA"/>
          </a:solidFill>
          <a:ln cap="flat" cmpd="sng" w="9525">
            <a:solidFill>
              <a:srgbClr val="2196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 txBox="1"/>
          <p:nvPr/>
        </p:nvSpPr>
        <p:spPr>
          <a:xfrm>
            <a:off x="6601975" y="1380750"/>
            <a:ext cx="4755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B4D"/>
                </a:solidFill>
                <a:latin typeface="Calibri"/>
                <a:ea typeface="Calibri"/>
                <a:cs typeface="Calibri"/>
                <a:sym typeface="Calibri"/>
              </a:rPr>
              <a:t>Recommended next steps</a:t>
            </a: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6263640" y="1783080"/>
            <a:ext cx="47548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Operationalize NCF with experiment tracking, reproducible checkpoints, and inference benchmarking.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Benchmark top-N ranking metrics next (Precision@K, Recall@K, NDCG) to complement rating-error metrics.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Test richer side information such as genome tags or temporal dynamics once the baseline deployment path is stable.</a:t>
            </a:r>
            <a:endParaRPr/>
          </a:p>
        </p:txBody>
      </p:sp>
      <p:sp>
        <p:nvSpPr>
          <p:cNvPr id="269" name="Google Shape;269;p22"/>
          <p:cNvSpPr txBox="1"/>
          <p:nvPr/>
        </p:nvSpPr>
        <p:spPr>
          <a:xfrm>
            <a:off x="868680" y="58978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66573"/>
                </a:solidFill>
                <a:latin typeface="Calibri"/>
                <a:ea typeface="Calibri"/>
                <a:cs typeface="Calibri"/>
                <a:sym typeface="Calibri"/>
              </a:rPr>
              <a:t>Prepared from the notebook outputs in training/model_selection_rating_genre.ipynb for project stakeholders.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