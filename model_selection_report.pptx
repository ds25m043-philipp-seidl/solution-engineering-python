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RMSE</c:v>
                </c:pt>
              </c:strCache>
            </c:strRef>
          </c:tx>
          <c:spPr>
            <a:solidFill>
              <a:srgbClr val="2E7D32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NCF</c:v>
                </c:pt>
                <c:pt idx="1">
                  <c:v>MF / GMF</c:v>
                </c:pt>
                <c:pt idx="2">
                  <c:v>ALS</c:v>
                </c:pt>
                <c:pt idx="3">
                  <c:v>SVD+Genre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0.8129</c:v>
                </c:pt>
                <c:pt idx="1">
                  <c:v>0.8419</c:v>
                </c:pt>
                <c:pt idx="2">
                  <c:v>0.9319</c:v>
                </c:pt>
                <c:pt idx="3">
                  <c:v>0.9471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MAE</c:v>
                </c:pt>
              </c:strCache>
            </c:strRef>
          </c:tx>
          <c:spPr>
            <a:solidFill>
              <a:srgbClr val="2196F3"/>
            </a:solidFill>
          </c:spPr>
          <c:dLbls>
            <c:numFmt formatCode="0.0000" sourceLinked="0"/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NCF</c:v>
                </c:pt>
                <c:pt idx="1">
                  <c:v>MF / GMF</c:v>
                </c:pt>
                <c:pt idx="2">
                  <c:v>ALS</c:v>
                </c:pt>
                <c:pt idx="3">
                  <c:v>SVD+Genre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0.6112</c:v>
                </c:pt>
                <c:pt idx="1">
                  <c:v>0.6333</c:v>
                </c:pt>
                <c:pt idx="2">
                  <c:v>0.6919</c:v>
                </c:pt>
                <c:pt idx="3">
                  <c:v>0.7192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5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0.1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62B4D"/>
          </a:solidFill>
          <a:ln>
            <a:solidFill>
              <a:srgbClr val="16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Model Selection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Movie Recommendation Systems with Genre Side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212080" cy="4114800"/>
          </a:xfrm>
          <a:prstGeom prst="roundRect">
            <a:avLst/>
          </a:prstGeom>
          <a:solidFill>
            <a:srgbClr val="E8F1F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792224"/>
            <a:ext cx="50657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Presentation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63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Compare four recommendation model families trained on the MovieLens 25M ratings dataset.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Summarize methodology, feature engineering, GPU training strategy, and final test performance.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Provide a stakeholder-ready recommendation that balances accuracy, complexity, and scalability.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2194560" cy="137160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792224"/>
            <a:ext cx="20482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Best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1920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NCF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65176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Lowest test RMSE / MAE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1737360"/>
            <a:ext cx="2377440" cy="1371600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792224"/>
            <a:ext cx="22311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48840"/>
            <a:ext cx="2103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2026-06-17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651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Presentation build date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474720"/>
            <a:ext cx="4709160" cy="150876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3529584"/>
            <a:ext cx="4562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Headline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886200"/>
            <a:ext cx="4434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RMSE 0.8129  |  MAE 0.6112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4434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Neural CF improved RMSE by 23.3% vs global-mean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2648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66573"/>
                </a:solidFill>
                <a:latin typeface="Calibri"/>
              </a:defRPr>
            </a:pPr>
            <a:r>
              <a:t>Source notebook: training/model_selection_rating_genre.ipynb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Key takeaways from the notebook-based model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577840" cy="5212080"/>
          </a:xfrm>
          <a:prstGeom prst="roundRect">
            <a:avLst/>
          </a:prstGeom>
          <a:solidFill>
            <a:srgbClr val="E8F1F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197864"/>
            <a:ext cx="54315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What matters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83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Neural Collaborative Filtering (NCF) achieved the strongest generalization with test RMSE 0.8129 and MAE 0.6112.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Matrix Factorization (MF/GMF) delivered the best simplicity-to-performance trade-off, finishing a close second at RMSE 0.8419.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ALS and SVD benefited from genre augmentation, but both lagged neural models by 0.09–0.13 RMSE.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All trained approaches significantly beat the global-mean baseline RMSE of 1.0600.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Recommendation: use NCF when accuracy is the primary KPI; keep MF/GMF as the leaner fallback for faster deployment and iteration.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325880"/>
          <a:ext cx="534924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9848"/>
                <a:gridCol w="1069848"/>
                <a:gridCol w="1069848"/>
                <a:gridCol w="1069848"/>
                <a:gridCol w="1069848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Selection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Neural CF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0.8129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0.6112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epoch 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Matrix Factorization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0.8419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0.6333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epoch 20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ALS + Genre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0.9319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0.6919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iter 7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SVD + Genre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0.9471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0.7192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k=100, alpha=2.0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355080" y="4069080"/>
            <a:ext cx="2423160" cy="141732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4123944"/>
            <a:ext cx="2276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Accuracy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48056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+0.0290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9834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MF RMSE delta vs NCF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069080"/>
            <a:ext cx="2423160" cy="141732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34272" y="4123944"/>
            <a:ext cx="2276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Baseline Lift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4480560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23.3%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498348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NCF RMSE reduction vs naive mean predictor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MovieLens 25M ratings with genre metadata and sparse user-item interactions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057400" cy="141732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9304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Ratings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25,000,095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Explicit 0.5–5.0 star ratings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34440"/>
            <a:ext cx="2057400" cy="141732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0632" y="1289304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162,541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Encoded from training-period activity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234440"/>
            <a:ext cx="2057400" cy="1417320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289304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Modeled Movies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64592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51,231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Train-known catalog items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1234440"/>
            <a:ext cx="2057400" cy="1417320"/>
          </a:xfrm>
          <a:prstGeom prst="round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9752" y="1289304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Raw Movie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64592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62,423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Original movie metadata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234440"/>
            <a:ext cx="2057400" cy="141732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2" y="1289304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Genres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645920"/>
            <a:ext cx="1783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148840"/>
            <a:ext cx="1783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  <a:r>
              <a:t>One-hot encoded side features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926080"/>
            <a:ext cx="4800600" cy="2834640"/>
          </a:xfrm>
          <a:prstGeom prst="roundRect">
            <a:avLst/>
          </a:prstGeom>
          <a:solidFill>
            <a:srgbClr val="F3F6F9"/>
          </a:solidFill>
          <a:ln>
            <a:solidFill>
              <a:srgbClr val="F3F6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2980944"/>
            <a:ext cx="4654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Dataset profile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337560"/>
            <a:ext cx="4343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Ratings were merged with movie genres while keeping heavyweight genome features out of the training spine.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Sparse matrix density after normalization is only 0.2177%, reinforcing the need for factorization-based recommenders.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Cold-start mitigation: rare movies appearing only in held-out tails were dropped from the final test set (11,990 rows).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Genre dummies were stored as compact int8/float32 features to control memory use at 25M-row scale.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623560" y="3063240"/>
          <a:ext cx="5577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Frame / Matrix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Shape or Count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Merged train spine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25,000,095 x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Ratings + genres + time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Genre matrix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62,423 x 19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Movie side-information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R_train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162,541 x 51,231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Sparse normalized ratings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R_aug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162,560 x 51,231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Ratings plus 19 genre pseudo-users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Temporal holdout, genre engineering, and leakage-safe normalization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66160" cy="4937760"/>
          </a:xfrm>
          <a:prstGeom prst="roundRect">
            <a:avLst/>
          </a:prstGeom>
          <a:solidFill>
            <a:srgbClr val="E8F1F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9304"/>
            <a:ext cx="34198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Split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4592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Per-user temporal ordering preserves each user's rating history.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Outer split: first ~80% of each user's ratings for training period, last ~20% for final test.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Inner split on the training period: last ~10% of that window used for validation and early stopping.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Actual notebook row counts: 18.13M fit / 1.93M validation / 4.93M test.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617720"/>
            <a:ext cx="914400" cy="868680"/>
          </a:xfrm>
          <a:prstGeom prst="roundRect">
            <a:avLst/>
          </a:prstGeom>
          <a:solidFill>
            <a:srgbClr val="E8F5E9"/>
          </a:solidFill>
          <a:ln>
            <a:solidFill>
              <a:srgbClr val="16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B4D"/>
                </a:solidFill>
              </a:defRPr>
            </a:pPr>
            <a:r>
              <a:t>Train period</a:t>
            </a:r>
            <a:br/>
            <a:r>
              <a:t>~80%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4617720"/>
            <a:ext cx="914400" cy="868680"/>
          </a:xfrm>
          <a:prstGeom prst="roundRect">
            <a:avLst/>
          </a:prstGeom>
          <a:solidFill>
            <a:srgbClr val="FFF3E0"/>
          </a:solidFill>
          <a:ln>
            <a:solidFill>
              <a:srgbClr val="16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B4D"/>
                </a:solidFill>
              </a:defRPr>
            </a:pPr>
            <a:r>
              <a:t>Validation</a:t>
            </a:r>
            <a:br/>
            <a:r>
              <a:t>~10% of train period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4617720"/>
            <a:ext cx="914400" cy="868680"/>
          </a:xfrm>
          <a:prstGeom prst="roundRect">
            <a:avLst/>
          </a:prstGeom>
          <a:solidFill>
            <a:srgbClr val="FCEBEA"/>
          </a:solidFill>
          <a:ln>
            <a:solidFill>
              <a:srgbClr val="16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2B4D"/>
                </a:solidFill>
              </a:defRPr>
            </a:pPr>
            <a:r>
              <a:t>Final test</a:t>
            </a:r>
            <a:br/>
            <a:r>
              <a:t>~20%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91640" y="5056632"/>
            <a:ext cx="274320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5056632"/>
            <a:ext cx="274320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234440"/>
            <a:ext cx="3429000" cy="493776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289304"/>
            <a:ext cx="3282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645920"/>
            <a:ext cx="29260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Genre strings were expanded into 19 one-hot features per movie.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MF and NCF consume genres directly through linear projections.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SVD and ALS append 19 genre pseudo-user rows to the sparse matrix so factorization explains both ratings and content structure.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SVD tuned alpha over {0.5, 1.0, 2.0}; the best configuration was alpha = 2.0.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611880" cy="4937760"/>
          </a:xfrm>
          <a:prstGeom prst="roundRect">
            <a:avLst/>
          </a:prstGeom>
          <a:solidFill>
            <a:srgbClr val="FFF3E0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289304"/>
            <a:ext cx="34655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Normalization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164592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User mean ratings were computed on df_fit only.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Each split uses rating_norm = rating - user mean during training.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Predictions are de-normalized and clipped back to the 0.5–5.0 star range for evaluation.</a:t>
            </a:r>
          </a:p>
          <a:p>
            <a:pPr>
              <a:defRPr sz="1500">
                <a:solidFill>
                  <a:srgbClr val="212121"/>
                </a:solidFill>
                <a:latin typeface="Calibri"/>
              </a:defRPr>
            </a:pPr>
            <a:r>
              <a:t>This design keeps validation/test scoring leakage-free and directly comparable across all models.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Model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How each recommendation model consumes ratings and genre features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Core idea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Genre integration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hyperparameters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Selection result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SVD + Genre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Sparse SVD on augmented rating matrix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19 pseudo-user rows appended to R_train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k ∈ {20,50,100}; best k=100, alpha=2.0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Best val RMSE 0.9171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MF / GMF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User/item embeddings + biases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Linear genre projection added to movie embedding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64 latent factors; Adam; epoch 20 selected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Best val RMSE 0.8152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Neural CF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GMF path fused with MLP path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Genres added to GMF projection and raw MLP input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32 GMF + 32 MLP factors; hidden layers 128/64/32; epoch 9 selected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Best val RMSE 0.7842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ALS + Genre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Alternating closed-form factor updates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Same augmented sparse matrix as SVD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k=50, λ=1, 10 iterations; iter 7 selected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Best val RMSE 0.8994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66573"/>
                </a:solidFill>
                <a:latin typeface="Calibri"/>
              </a:defRPr>
            </a:pPr>
            <a:r>
              <a:t>All four models use the same leakage-safe validation/test protocol, making the metric comparison directly comparable across architectures.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Architecture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Text-based views of the four modeling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40680" cy="2057400"/>
          </a:xfrm>
          <a:prstGeom prst="roundRect">
            <a:avLst/>
          </a:prstGeom>
          <a:solidFill>
            <a:srgbClr val="FCEBEA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9304"/>
            <a:ext cx="5294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SVD + Genre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R_train + 19 genre rows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746504" y="210312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965960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svds(k=100)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44952" y="210312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64408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User / movie latent factors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210312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62856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Prediction + user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34440"/>
            <a:ext cx="5440680" cy="2057400"/>
          </a:xfrm>
          <a:prstGeom prst="roundRect">
            <a:avLst/>
          </a:prstGeom>
          <a:solidFill>
            <a:srgbClr val="E8F1F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289304"/>
            <a:ext cx="5294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MF / GMF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User emb (64)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15784" y="210312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635240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Movie emb + genre projection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14232" y="210312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933688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Dot product + user/movie bias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12680" y="210312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32136" y="173736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Predicted rating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94760"/>
            <a:ext cx="5440680" cy="2057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849624"/>
            <a:ext cx="5294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Neural CF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GMF path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46504" y="466344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65960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MLP path with genre input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44952" y="466344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264408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Fusion layer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43400" y="466344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562856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Predicted rating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94760"/>
            <a:ext cx="5440680" cy="2057400"/>
          </a:xfrm>
          <a:prstGeom prst="roundRect">
            <a:avLst/>
          </a:prstGeom>
          <a:solidFill>
            <a:srgbClr val="FFF3E0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5352" y="3849624"/>
            <a:ext cx="5294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ALS + Genre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36792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R_aug sparse matrix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15784" y="466344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635240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Update U given V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714232" y="466344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933688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Update V given U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012680" y="4663440"/>
            <a:ext cx="219456" cy="0"/>
          </a:xfrm>
          <a:prstGeom prst="line">
            <a:avLst/>
          </a:prstGeom>
          <a:ln>
            <a:solidFill>
              <a:srgbClr val="56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32136" y="4297680"/>
            <a:ext cx="107899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2B4D"/>
                </a:solidFill>
                <a:latin typeface="Calibri"/>
              </a:defRPr>
            </a:pPr>
            <a:r>
              <a:t>Best iter = 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17220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66573"/>
                </a:solidFill>
                <a:latin typeface="Calibri"/>
              </a:defRPr>
            </a:pPr>
            <a:r>
              <a:t>NCF extends MF by adding a non-linear MLP branch, while SVD and ALS share the same augmented sparse representation with genre pseudo-users.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Results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Lower RMSE/MAE is better; all values are final held-out test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371600"/>
          <a:ext cx="6492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0" y="1417320"/>
          <a:ext cx="438912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</a:tblGrid>
              <a:tr h="6492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RMSE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NCF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0.7842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0.8129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0.6112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MF / GMF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0.8152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0.8419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0.6333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0.8994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0.9319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0.6919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SVD+Genre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0.9171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0.9471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0.7192</a:t>
                      </a:r>
                    </a:p>
                  </a:txBody>
                  <a:tcPr>
                    <a:solidFill>
                      <a:srgbClr val="FCEB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4983480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2B4D"/>
                </a:solidFill>
                <a:latin typeface="Calibri"/>
              </a:defRPr>
            </a:pPr>
            <a:r>
              <a:t>Performance ranking by test RMSE: NCF → MF/GMF → ALS → SVD+Genre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5321808"/>
            <a:ext cx="4251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6573"/>
                </a:solidFill>
                <a:latin typeface="Calibri"/>
              </a:defRPr>
            </a:pPr>
            <a:r>
              <a:t>Global-mean baseline RMSE = 1.0600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Model ranking, trade-offs, and recommended production choice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657600" cy="443484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289304"/>
            <a:ext cx="3511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Performance 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1. NCF: best overall accuracy (RMSE 0.8129 / MAE 0.6112).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2. MF / GMF: close second while staying architecturally simpler.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3. ALS + Genre: respectable classical baseline with slower sparse optimization.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4. SVD + Genre: interpretable and compact, but least accurate in this benchmark.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65760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289304"/>
            <a:ext cx="35112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691640"/>
            <a:ext cx="3108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Accuracy vs complexity: NCF wins on accuracy but introduces the most moving parts.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Operational simplicity: MF retains embedding efficiency and easier explainability.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Classical factorization: ALS/SVD remain useful baselines when deep-learning infrastructure is unavailable.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Genre features help every family, but non-linear interaction learning captures the strongest gains.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234440"/>
            <a:ext cx="3474720" cy="4434840"/>
          </a:xfrm>
          <a:prstGeom prst="roundRect">
            <a:avLst/>
          </a:prstGeom>
          <a:solidFill>
            <a:srgbClr val="FFF3E0"/>
          </a:solidFill>
          <a:ln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7031" y="1289304"/>
            <a:ext cx="33284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1691640"/>
            <a:ext cx="29260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Primary recommendation: advance NCF for stakeholder demos and accuracy-focused deployment.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Secondary option: keep MF/GMF as a lean fallback where training speed or maintainability matters more.</a:t>
            </a:r>
          </a:p>
          <a:p>
            <a:pPr>
              <a:defRPr sz="1600">
                <a:solidFill>
                  <a:srgbClr val="212121"/>
                </a:solidFill>
                <a:latin typeface="Calibri"/>
              </a:defRPr>
            </a:pPr>
            <a:r>
              <a:t>Do not lead with SVD/ALS for this use case unless infrastructure constraints outweigh metric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5806440"/>
            <a:ext cx="5074920" cy="77724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5861304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Best business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6217920"/>
            <a:ext cx="4800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62B4D"/>
                </a:solidFill>
                <a:latin typeface="Calibri"/>
              </a:defRPr>
            </a:pPr>
            <a:r>
              <a:t>Neural models justify their extra complexity because they deliver the clearest accuracy lift on held-out ratings.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672084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66573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Training efficiency, optimization settings, and evaluation controls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801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705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Notebook implementation detail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62B4D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GPU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Custom GPUBatcher moves tensors to device once and slices batches without DataLoader workers.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Reduces CPU→GPU transfer overhead and avoids worker crashes for large in-memory data.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Batch processing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Batch size = 4,096 with user, movie, rating_norm, and genre tensors.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Maintains throughput while keeping memory predictable.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Early stopping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MF and NCF stop after 5 stale validation epochs; best weights are restored.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Prevents overfitting and standardizes model selection.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SVD search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Grid over k ∈ {20, 50, 100} and alpha ∈ {0.5, 1.0, 2.0}.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Keeps the genre-weight sweep small but evidence-based.</a:t>
                      </a:r>
                    </a:p>
                  </a:txBody>
                  <a:tcPr>
                    <a:solidFill>
                      <a:srgbClr val="F3F6F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ALS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10 alternating updates, λ = 1, k = 50, full augmented matrix on CPU.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Provides a deterministic classical benchmark with validation-based iteration choice.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5778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2B4D"/>
                </a:solidFill>
                <a:latin typeface="Calibri"/>
              </a:defRPr>
            </a:pPr>
            <a:r>
              <a:t>Evaluation discipline: df_test is touched exactly once per model after hyperparameter/epoch selection on df_val.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66573"/>
                </a:solidFill>
                <a:latin typeface="Calibri"/>
              </a:defRPr>
            </a:pPr>
            <a:r>
              <a:t>Normalization detail: user means come only from df_fit, then predictions are de-normalized and clipped to the original 0.5–5.0 rating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62B4D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66573"/>
                </a:solidFill>
                <a:latin typeface="Calibri"/>
              </a:defRPr>
            </a:pPr>
            <a:r>
              <a:t>Summary, recommendation, and practical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074920" cy="438912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80744"/>
            <a:ext cx="492861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526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NCF is the strongest candidate for the current recommendation objective, with the best RMSE and MAE on the held-out test set.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MF/GMF remains a high-value alternative if the team wants a simpler model with only a modest accuracy trade-off.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Genre side features are useful, but the biggest lift comes from models that learn richer user–item interaction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325880"/>
            <a:ext cx="5440680" cy="4389120"/>
          </a:xfrm>
          <a:prstGeom prst="roundRect">
            <a:avLst/>
          </a:prstGeom>
          <a:solidFill>
            <a:srgbClr val="E8F1FA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2472" y="1380744"/>
            <a:ext cx="529437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62B4D"/>
                </a:solidFill>
                <a:latin typeface="Calibri"/>
              </a:defRPr>
            </a:pPr>
            <a:r>
              <a:t>Recommended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Operationalize NCF with experiment tracking, reproducible checkpoints, and inference benchmarking.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Benchmark top-N ranking metrics next (Precision@K, Recall@K, NDCG) to complement rating-error metrics.</a:t>
            </a:r>
          </a:p>
          <a:p>
            <a:pPr>
              <a:defRPr sz="1700">
                <a:solidFill>
                  <a:srgbClr val="212121"/>
                </a:solidFill>
                <a:latin typeface="Calibri"/>
              </a:defRPr>
            </a:pPr>
            <a:r>
              <a:t>Test richer side information such as genome tags or temporal dynamics once the baseline deployment path is stable.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66573"/>
                </a:solidFill>
                <a:latin typeface="Calibri"/>
              </a:defRPr>
            </a:pPr>
            <a:r>
              <a:t>Prepared from the notebook outputs in training/model_selection_rating_genre.ipynb for project stakeholders.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