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1675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Inter ExtraBold"/>
      <p:bold r:id="rId17"/>
      <p:boldItalic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6SAaTZCcbP8ewjNBdmekDD3ax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font" Target="fonts/InterSemiBold-italic.fntdata"/><Relationship Id="rId22" Type="http://schemas.openxmlformats.org/officeDocument/2006/relationships/font" Target="fonts/InterMedium-boldItalic.fntdata"/><Relationship Id="rId10" Type="http://schemas.openxmlformats.org/officeDocument/2006/relationships/font" Target="fonts/InterSemiBold-bold.fntdata"/><Relationship Id="rId21" Type="http://schemas.openxmlformats.org/officeDocument/2006/relationships/font" Target="fonts/InterMedium-italic.fntdata"/><Relationship Id="rId13" Type="http://schemas.openxmlformats.org/officeDocument/2006/relationships/font" Target="fonts/Inter-regular.fntdata"/><Relationship Id="rId12" Type="http://schemas.openxmlformats.org/officeDocument/2006/relationships/font" Target="fonts/InterSemiBold-boldItalic.fntdata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InterExtraBold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b6d506e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fb6d506e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efb6d506ea_0_4"/>
          <p:cNvGrpSpPr/>
          <p:nvPr/>
        </p:nvGrpSpPr>
        <p:grpSpPr>
          <a:xfrm>
            <a:off x="8039100" y="1524000"/>
            <a:ext cx="2781300" cy="3429000"/>
            <a:chOff x="8039100" y="1524000"/>
            <a:chExt cx="2781300" cy="3429000"/>
          </a:xfrm>
        </p:grpSpPr>
        <p:pic>
          <p:nvPicPr>
            <p:cNvPr id="85" name="Google Shape;85;g3efb6d506ea_0_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238" y="1905000"/>
              <a:ext cx="766800" cy="2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g3efb6d506ea_0_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72475" y="2090738"/>
              <a:ext cx="771600" cy="13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g3efb6d506ea_0_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34475" y="3405188"/>
              <a:ext cx="9600" cy="2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g3efb6d506ea_0_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39238" y="3419475"/>
              <a:ext cx="48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g3efb6d506ea_0_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34475" y="3429000"/>
              <a:ext cx="96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g3efb6d506ea_0_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181975" y="3419475"/>
              <a:ext cx="962100" cy="97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g3efb6d506ea_0_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186738" y="4371975"/>
              <a:ext cx="957300" cy="2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g3efb6d506ea_0_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81975" y="2090738"/>
              <a:ext cx="209700" cy="22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g3efb6d506ea_0_4"/>
            <p:cNvSpPr/>
            <p:nvPr/>
          </p:nvSpPr>
          <p:spPr>
            <a:xfrm>
              <a:off x="8229600" y="1943100"/>
              <a:ext cx="304800" cy="3048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efb6d506ea_0_4"/>
            <p:cNvSpPr/>
            <p:nvPr/>
          </p:nvSpPr>
          <p:spPr>
            <a:xfrm>
              <a:off x="8305800" y="2019300"/>
              <a:ext cx="152400" cy="1524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g3efb6d506ea_0_4"/>
            <p:cNvSpPr/>
            <p:nvPr/>
          </p:nvSpPr>
          <p:spPr>
            <a:xfrm>
              <a:off x="8353425" y="2066925"/>
              <a:ext cx="57300" cy="57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efb6d506ea_0_4"/>
            <p:cNvSpPr/>
            <p:nvPr/>
          </p:nvSpPr>
          <p:spPr>
            <a:xfrm>
              <a:off x="9810750" y="1524000"/>
              <a:ext cx="381000" cy="381000"/>
            </a:xfrm>
            <a:prstGeom prst="ellipse">
              <a:avLst/>
            </a:prstGeom>
            <a:solidFill>
              <a:srgbClr val="818CF8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g3efb6d506ea_0_4"/>
            <p:cNvSpPr/>
            <p:nvPr/>
          </p:nvSpPr>
          <p:spPr>
            <a:xfrm>
              <a:off x="9906000" y="1619250"/>
              <a:ext cx="190500" cy="1905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efb6d506ea_0_4"/>
            <p:cNvSpPr/>
            <p:nvPr/>
          </p:nvSpPr>
          <p:spPr>
            <a:xfrm>
              <a:off x="9963150" y="16764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g3efb6d506ea_0_4"/>
            <p:cNvSpPr/>
            <p:nvPr/>
          </p:nvSpPr>
          <p:spPr>
            <a:xfrm>
              <a:off x="8915400" y="3200400"/>
              <a:ext cx="457200" cy="4572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efb6d506ea_0_4"/>
            <p:cNvSpPr/>
            <p:nvPr/>
          </p:nvSpPr>
          <p:spPr>
            <a:xfrm>
              <a:off x="9029700" y="3314700"/>
              <a:ext cx="228600" cy="2286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g3efb6d506ea_0_4"/>
            <p:cNvSpPr/>
            <p:nvPr/>
          </p:nvSpPr>
          <p:spPr>
            <a:xfrm>
              <a:off x="9096375" y="3381375"/>
              <a:ext cx="95400" cy="9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efb6d506ea_0_4"/>
            <p:cNvSpPr/>
            <p:nvPr/>
          </p:nvSpPr>
          <p:spPr>
            <a:xfrm>
              <a:off x="10515600" y="2895600"/>
              <a:ext cx="304800" cy="304800"/>
            </a:xfrm>
            <a:prstGeom prst="ellipse">
              <a:avLst/>
            </a:prstGeom>
            <a:solidFill>
              <a:srgbClr val="818CF8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g3efb6d506ea_0_4"/>
            <p:cNvSpPr/>
            <p:nvPr/>
          </p:nvSpPr>
          <p:spPr>
            <a:xfrm>
              <a:off x="10591800" y="2971800"/>
              <a:ext cx="152400" cy="1524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g3efb6d506ea_0_4"/>
            <p:cNvSpPr/>
            <p:nvPr/>
          </p:nvSpPr>
          <p:spPr>
            <a:xfrm>
              <a:off x="10639425" y="3019425"/>
              <a:ext cx="57300" cy="57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g3efb6d506ea_0_4"/>
            <p:cNvSpPr/>
            <p:nvPr/>
          </p:nvSpPr>
          <p:spPr>
            <a:xfrm>
              <a:off x="8039100" y="4229100"/>
              <a:ext cx="304800" cy="304800"/>
            </a:xfrm>
            <a:prstGeom prst="ellipse">
              <a:avLst/>
            </a:prstGeom>
            <a:solidFill>
              <a:srgbClr val="818CF8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efb6d506ea_0_4"/>
            <p:cNvSpPr/>
            <p:nvPr/>
          </p:nvSpPr>
          <p:spPr>
            <a:xfrm>
              <a:off x="8115300" y="4305300"/>
              <a:ext cx="152400" cy="1524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efb6d506ea_0_4"/>
            <p:cNvSpPr/>
            <p:nvPr/>
          </p:nvSpPr>
          <p:spPr>
            <a:xfrm>
              <a:off x="8162925" y="4352925"/>
              <a:ext cx="57300" cy="57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efb6d506ea_0_4"/>
            <p:cNvSpPr/>
            <p:nvPr/>
          </p:nvSpPr>
          <p:spPr>
            <a:xfrm>
              <a:off x="9715500" y="4572000"/>
              <a:ext cx="381000" cy="3810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efb6d506ea_0_4"/>
            <p:cNvSpPr/>
            <p:nvPr/>
          </p:nvSpPr>
          <p:spPr>
            <a:xfrm>
              <a:off x="9810750" y="4667250"/>
              <a:ext cx="190500" cy="1905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efb6d506ea_0_4"/>
            <p:cNvSpPr/>
            <p:nvPr/>
          </p:nvSpPr>
          <p:spPr>
            <a:xfrm>
              <a:off x="9867900" y="47244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g3efb6d506ea_0_4"/>
          <p:cNvSpPr txBox="1"/>
          <p:nvPr/>
        </p:nvSpPr>
        <p:spPr>
          <a:xfrm>
            <a:off x="952500" y="152400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818C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7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Neural</a:t>
            </a:r>
            <a:r>
              <a:rPr b="0" lang="en-US" sz="72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</a:t>
            </a:r>
            <a:endParaRPr b="0" sz="7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9FAFB"/>
                </a:solidFill>
                <a:latin typeface="Inter Medium"/>
                <a:ea typeface="Inter Medium"/>
                <a:cs typeface="Inter Medium"/>
                <a:sym typeface="Inter Medium"/>
              </a:rPr>
              <a:t>Christoph Gooss, Philipp Seidl, Matthias Bohle, Florian Mehofer</a:t>
            </a:r>
            <a:endParaRPr b="0" sz="1800">
              <a:solidFill>
                <a:srgbClr val="F9FAF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/>
        </p:nvSpPr>
        <p:spPr>
          <a:xfrm>
            <a:off x="685800" y="457200"/>
            <a:ext cx="108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9FAFB"/>
                </a:solidFill>
              </a:rPr>
              <a:t>Project Overview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85800" y="1645920"/>
            <a:ext cx="5029200" cy="4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Build an intelligent recommendation engine that provides highly tailored movie suggestions based on titles users already like and interact with.</a:t>
            </a:r>
            <a:endParaRPr/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Developed, optimized, and benchmarked two distinct architectures:</a:t>
            </a:r>
            <a:b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 SVD Baseline (Traditional Collaborative Filtering)</a:t>
            </a:r>
            <a:b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 Neural Collaborative Filtering (Deep Learning Network)</a:t>
            </a:r>
            <a:endParaRPr b="0" i="0" sz="1400" u="none" cap="none" strike="noStrike"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Main Issues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 Unbalanced reviews (Blockbuster penalties)</a:t>
            </a:r>
            <a:br>
              <a:rPr lang="en-US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 Training and Model Strategies (RSME vs Negative Sampling)</a:t>
            </a:r>
            <a:br>
              <a:rPr lang="en-US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 Performance Bottlenecks</a:t>
            </a:r>
            <a:endParaRPr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6400800" y="1645920"/>
            <a:ext cx="5029200" cy="10972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25M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Total verified ratings within the MovieLens dataset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6400800" y="3017520"/>
            <a:ext cx="5029200" cy="10972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62K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Total verified movies within the MovieLens dataset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6400800" y="4389120"/>
            <a:ext cx="5029200" cy="10972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162K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Total verified users within the MovieLens dataset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/>
          <p:nvPr/>
        </p:nvSpPr>
        <p:spPr>
          <a:xfrm>
            <a:off x="685800" y="457200"/>
            <a:ext cx="108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rPr>
              <a:t>Model Architecture &amp; Mechanics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685800" y="1645925"/>
            <a:ext cx="5120700" cy="46032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1. SVD Baseline (Hitrate: 53%)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Matrix Construction: Builds user-movie interaction matrix from positive ratings (≥ 3.5 stars), additionally stacked with genome tags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The SVD item matrix is L2-normalized at load time so dot products act as cosine similarity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User vector is built by summing the latent vectors of the liked movies, then scored against all items via a single dot product</a:t>
            </a:r>
            <a:endParaRPr sz="1200"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9FA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382500" y="1645925"/>
            <a:ext cx="5180400" cy="4603200"/>
          </a:xfrm>
          <a:prstGeom prst="rect">
            <a:avLst/>
          </a:prstGeom>
          <a:solidFill>
            <a:srgbClr val="1F29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74300" spcFirstLastPara="1" rIns="91425" wrap="square" tIns="27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2. N</a:t>
            </a: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eural Collaborative Filtering </a:t>
            </a: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Hitrate</a:t>
            </a:r>
            <a:r>
              <a:rPr b="1" lang="en-US" sz="18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: 69%</a:t>
            </a: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solidFill>
                <a:srgbClr val="3B82F6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Two-Tower Deep Model: </a:t>
            </a:r>
            <a:r>
              <a:rPr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ombines Generalized Matrix Factorization (GMF) and an MLP branch.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Average the genome tag vectors of liked movies and projecting them through the trained genome_proj layer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Semantic similarity (dot product projected liked-profile and all projected movie genomes) 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• Final score: 60% genome fit + 40% quality (movie bias + normalized average rating), minus a 0.3× log-popularity penalty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